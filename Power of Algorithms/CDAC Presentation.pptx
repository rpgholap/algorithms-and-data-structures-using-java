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ssistant" pitchFamily="2" charset="-79"/>
      <p:regular r:id="rId18"/>
    </p:embeddedFont>
    <p:embeddedFont>
      <p:font typeface="Assistant Bold" charset="-79"/>
      <p:regular r:id="rId19"/>
    </p:embeddedFont>
    <p:embeddedFont>
      <p:font typeface="Roca One" panose="020B0604020202020204" charset="0"/>
      <p:regular r:id="rId20"/>
    </p:embeddedFont>
    <p:embeddedFont>
      <p:font typeface="Roca On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-5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5271" y="4565874"/>
            <a:ext cx="5902101" cy="7974702"/>
            <a:chOff x="0" y="0"/>
            <a:chExt cx="7869467" cy="10632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2672315" y="-776716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6884370" y="7044598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47933" y="7544259"/>
            <a:ext cx="7411367" cy="1714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Presented by: </a:t>
            </a: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033_Aryan_Pate &amp; </a:t>
            </a: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159_Rutuja_Gholap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16324" y="4924425"/>
            <a:ext cx="12055352" cy="20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0"/>
              </a:lnSpc>
            </a:pPr>
            <a:r>
              <a:rPr lang="en-US" sz="119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SEARCH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16324" y="3271908"/>
            <a:ext cx="12738703" cy="203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85"/>
              </a:lnSpc>
            </a:pPr>
            <a:r>
              <a:rPr lang="en-US" sz="11917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INTERPOLATION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16324" y="1347359"/>
            <a:ext cx="5077923" cy="4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CDAC Kharghar | Aug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8224" y="4261626"/>
            <a:ext cx="792734" cy="629681"/>
            <a:chOff x="0" y="0"/>
            <a:chExt cx="208786" cy="1658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88224" y="5287839"/>
            <a:ext cx="792734" cy="629681"/>
            <a:chOff x="0" y="0"/>
            <a:chExt cx="208786" cy="1658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88224" y="6327095"/>
            <a:ext cx="792734" cy="629681"/>
            <a:chOff x="0" y="0"/>
            <a:chExt cx="208786" cy="1658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316472" y="4226238"/>
            <a:ext cx="792734" cy="629681"/>
            <a:chOff x="0" y="0"/>
            <a:chExt cx="208786" cy="1658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316472" y="5349688"/>
            <a:ext cx="792734" cy="629681"/>
            <a:chOff x="0" y="0"/>
            <a:chExt cx="208786" cy="1658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16472" y="6420198"/>
            <a:ext cx="792734" cy="629681"/>
            <a:chOff x="0" y="0"/>
            <a:chExt cx="208786" cy="1658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16472" y="7423435"/>
            <a:ext cx="792734" cy="629681"/>
            <a:chOff x="0" y="0"/>
            <a:chExt cx="208786" cy="165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8786" cy="165842"/>
            </a:xfrm>
            <a:custGeom>
              <a:avLst/>
              <a:gdLst/>
              <a:ahLst/>
              <a:cxnLst/>
              <a:rect l="l" t="t" r="r" b="b"/>
              <a:pathLst>
                <a:path w="208786" h="165842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88224" y="7423502"/>
            <a:ext cx="792734" cy="629615"/>
            <a:chOff x="0" y="0"/>
            <a:chExt cx="208786" cy="1658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8786" cy="165825"/>
            </a:xfrm>
            <a:custGeom>
              <a:avLst/>
              <a:gdLst/>
              <a:ahLst/>
              <a:cxnLst/>
              <a:rect l="l" t="t" r="r" b="b"/>
              <a:pathLst>
                <a:path w="208786" h="165825">
                  <a:moveTo>
                    <a:pt x="0" y="0"/>
                  </a:moveTo>
                  <a:lnTo>
                    <a:pt x="208786" y="0"/>
                  </a:lnTo>
                  <a:lnTo>
                    <a:pt x="208786" y="165825"/>
                  </a:lnTo>
                  <a:lnTo>
                    <a:pt x="0" y="165825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57150"/>
              <a:ext cx="208786" cy="108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364936" y="7086755"/>
            <a:ext cx="2806712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Reference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69934" y="7154024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8.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19107" y="6115398"/>
            <a:ext cx="3966091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Implementation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341686" y="7137752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4.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04450" y="6115398"/>
            <a:ext cx="3391484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Conclusion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69934" y="6150786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7.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41686" y="6022295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3.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69934" y="5044888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6.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9107" y="4983039"/>
            <a:ext cx="4835371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Work and Example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1686" y="5000733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2.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19107" y="7086689"/>
            <a:ext cx="6749076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Advantages &amp; Disadvantages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69934" y="3939132"/>
            <a:ext cx="485810" cy="89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5.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19107" y="3956826"/>
            <a:ext cx="3223701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Introduction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28594" y="3921438"/>
            <a:ext cx="485810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3900" b="1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1.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30958" y="2158803"/>
            <a:ext cx="7314637" cy="112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Overview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04450" y="3921438"/>
            <a:ext cx="6749076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Applications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04450" y="5044888"/>
            <a:ext cx="5734396" cy="89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3900" spc="19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Algorithm Comparision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651188" y="1841552"/>
            <a:ext cx="839606" cy="839606"/>
          </a:xfrm>
          <a:custGeom>
            <a:avLst/>
            <a:gdLst/>
            <a:ahLst/>
            <a:cxnLst/>
            <a:rect l="l" t="t" r="r" b="b"/>
            <a:pathLst>
              <a:path w="839606" h="839606">
                <a:moveTo>
                  <a:pt x="0" y="0"/>
                </a:moveTo>
                <a:lnTo>
                  <a:pt x="839606" y="0"/>
                </a:lnTo>
                <a:lnTo>
                  <a:pt x="839606" y="839606"/>
                </a:lnTo>
                <a:lnTo>
                  <a:pt x="0" y="839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25201" y="1976845"/>
            <a:ext cx="12837598" cy="28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spc="64">
                <a:solidFill>
                  <a:srgbClr val="0E18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INTERPOLATION SEARCH </a:t>
            </a:r>
          </a:p>
          <a:p>
            <a:pPr algn="ctr">
              <a:lnSpc>
                <a:spcPts val="6019"/>
              </a:lnSpc>
            </a:pPr>
            <a:endParaRPr lang="en-US" sz="4299" b="1" spc="64">
              <a:solidFill>
                <a:srgbClr val="0E182F"/>
              </a:solidFill>
              <a:latin typeface="Roca One Bold"/>
              <a:ea typeface="Roca One Bold"/>
              <a:cs typeface="Roca One Bold"/>
              <a:sym typeface="Roca One Bold"/>
            </a:endParaRPr>
          </a:p>
          <a:p>
            <a:pPr algn="just">
              <a:lnSpc>
                <a:spcPts val="5319"/>
              </a:lnSpc>
            </a:pPr>
            <a:r>
              <a:rPr lang="en-US" sz="3799" spc="56">
                <a:solidFill>
                  <a:srgbClr val="09428E"/>
                </a:solidFill>
                <a:latin typeface="Assistant"/>
                <a:ea typeface="Assistant"/>
                <a:cs typeface="Assistant"/>
                <a:sym typeface="Assistant"/>
              </a:rPr>
              <a:t>A Smart Searching Algorithm for Uniformly Distributed Data  </a:t>
            </a:r>
          </a:p>
          <a:p>
            <a:pPr algn="just">
              <a:lnSpc>
                <a:spcPts val="5319"/>
              </a:lnSpc>
            </a:pPr>
            <a:endParaRPr lang="en-US" sz="3799" spc="56">
              <a:solidFill>
                <a:srgbClr val="09428E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72032" y="5328453"/>
            <a:ext cx="15143935" cy="244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sz="5943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An Advanced Alternative to Binary Search</a:t>
            </a:r>
          </a:p>
          <a:p>
            <a:pPr algn="ctr">
              <a:lnSpc>
                <a:spcPts val="6195"/>
              </a:lnSpc>
            </a:pPr>
            <a:endParaRPr lang="en-US" sz="5943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  <a:p>
            <a:pPr algn="ctr">
              <a:lnSpc>
                <a:spcPts val="7234"/>
              </a:lnSpc>
            </a:pPr>
            <a:r>
              <a:rPr lang="en-US" sz="9043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20321" y="2907804"/>
            <a:ext cx="14647357" cy="418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851" lvl="1" indent="-366426" algn="just">
              <a:lnSpc>
                <a:spcPts val="4752"/>
              </a:lnSpc>
              <a:buFont typeface="Arial"/>
              <a:buChar char="•"/>
            </a:pP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An improved variant of </a:t>
            </a:r>
            <a:r>
              <a:rPr lang="en-US" sz="3394" b="1" spc="50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Binary Search</a:t>
            </a: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that works on sorted arrays</a:t>
            </a:r>
          </a:p>
          <a:p>
            <a:pPr marL="732851" lvl="1" indent="-366426" algn="just">
              <a:lnSpc>
                <a:spcPts val="4752"/>
              </a:lnSpc>
              <a:buFont typeface="Arial"/>
              <a:buChar char="•"/>
            </a:pP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Instead of checking the </a:t>
            </a:r>
            <a:r>
              <a:rPr lang="en-US" sz="3394" b="1" spc="50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middle element</a:t>
            </a: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, it estimates the probable position</a:t>
            </a:r>
          </a:p>
          <a:p>
            <a:pPr marL="732851" lvl="1" indent="-366426" algn="just">
              <a:lnSpc>
                <a:spcPts val="4752"/>
              </a:lnSpc>
              <a:buFont typeface="Arial"/>
              <a:buChar char="•"/>
            </a:pP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Uses interpolation formula to predict where the target value might be located</a:t>
            </a:r>
          </a:p>
          <a:p>
            <a:pPr marL="732851" lvl="1" indent="-366426" algn="just">
              <a:lnSpc>
                <a:spcPts val="4752"/>
              </a:lnSpc>
              <a:buFont typeface="Arial"/>
              <a:buChar char="•"/>
            </a:pPr>
            <a:r>
              <a:rPr lang="en-US" sz="3394" spc="50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Assumes elements are </a:t>
            </a:r>
            <a:r>
              <a:rPr lang="en-US" sz="3394" b="1" spc="50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uniformly distributed</a:t>
            </a:r>
          </a:p>
          <a:p>
            <a:pPr algn="just">
              <a:lnSpc>
                <a:spcPts val="4752"/>
              </a:lnSpc>
            </a:pPr>
            <a:endParaRPr lang="en-US" sz="3394" b="1" spc="50">
              <a:solidFill>
                <a:srgbClr val="78A6CB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just">
              <a:lnSpc>
                <a:spcPts val="4752"/>
              </a:lnSpc>
            </a:pPr>
            <a:endParaRPr lang="en-US" sz="3394" b="1" spc="50">
              <a:solidFill>
                <a:srgbClr val="78A6CB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5136073" y="6437958"/>
            <a:ext cx="8014369" cy="2121301"/>
          </a:xfrm>
          <a:custGeom>
            <a:avLst/>
            <a:gdLst/>
            <a:ahLst/>
            <a:cxnLst/>
            <a:rect l="l" t="t" r="r" b="b"/>
            <a:pathLst>
              <a:path w="8014369" h="2121301">
                <a:moveTo>
                  <a:pt x="0" y="0"/>
                </a:moveTo>
                <a:lnTo>
                  <a:pt x="8014369" y="0"/>
                </a:lnTo>
                <a:lnTo>
                  <a:pt x="8014369" y="2121301"/>
                </a:lnTo>
                <a:lnTo>
                  <a:pt x="0" y="2121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4366" b="-2675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92304" y="1771726"/>
            <a:ext cx="16701906" cy="87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770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What is Interpolation Search?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12192" y="3056655"/>
            <a:ext cx="15547108" cy="541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4830"/>
              </a:lnSpc>
              <a:buAutoNum type="arabicPeriod"/>
            </a:pPr>
            <a:r>
              <a:rPr lang="en-US" sz="3000" b="1" spc="45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Binary Search Limitation:</a:t>
            </a:r>
            <a:r>
              <a:rPr lang="en-US" sz="3000" spc="45">
                <a:solidFill>
                  <a:srgbClr val="78A6CB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Always checks middle element regardless of target value</a:t>
            </a:r>
          </a:p>
          <a:p>
            <a:pPr marL="647702" lvl="1" indent="-323851" algn="just">
              <a:lnSpc>
                <a:spcPts val="4830"/>
              </a:lnSpc>
              <a:buAutoNum type="arabicPeriod"/>
            </a:pPr>
            <a:r>
              <a:rPr lang="en-US" sz="3000" b="1" spc="45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Real-world Analogy:</a:t>
            </a:r>
            <a:r>
              <a:rPr lang="en-US" sz="3000" spc="45">
                <a:solidFill>
                  <a:srgbClr val="78A6CB"/>
                </a:solidFill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When looking for "Wilson" in phone book, you don't start from "M"</a:t>
            </a:r>
          </a:p>
          <a:p>
            <a:pPr marL="647702" lvl="1" indent="-323851" algn="just">
              <a:lnSpc>
                <a:spcPts val="4830"/>
              </a:lnSpc>
              <a:buAutoNum type="arabicPeriod"/>
            </a:pPr>
            <a:r>
              <a:rPr lang="en-US" sz="3000" b="1" spc="45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Mathematical Insight:</a:t>
            </a: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If data is uniformly distributed, we can predict better positions</a:t>
            </a:r>
          </a:p>
          <a:p>
            <a:pPr marL="647702" lvl="1" indent="-323851" algn="just">
              <a:lnSpc>
                <a:spcPts val="4830"/>
              </a:lnSpc>
              <a:buAutoNum type="arabicPeriod"/>
            </a:pPr>
            <a:r>
              <a:rPr lang="en-US" sz="3000" b="1" spc="45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Performance Goal:</a:t>
            </a: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Reduce average search time from O(log n) to O(log log n)</a:t>
            </a:r>
          </a:p>
          <a:p>
            <a:pPr algn="just">
              <a:lnSpc>
                <a:spcPts val="4830"/>
              </a:lnSpc>
            </a:pPr>
            <a:endParaRPr lang="en-US" sz="3000" spc="45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4830"/>
              </a:lnSpc>
            </a:pP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E xample:  Searching for 750 in range [100, 1000] </a:t>
            </a:r>
          </a:p>
          <a:p>
            <a:pPr algn="just">
              <a:lnSpc>
                <a:spcPts val="4830"/>
              </a:lnSpc>
            </a:pP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Binary: Checks 550 (middle)</a:t>
            </a:r>
          </a:p>
          <a:p>
            <a:pPr algn="just">
              <a:lnSpc>
                <a:spcPts val="4830"/>
              </a:lnSpc>
            </a:pPr>
            <a:r>
              <a:rPr lang="en-US" sz="3000" spc="4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Interpolation: Estimates around 750 directly!</a:t>
            </a:r>
          </a:p>
          <a:p>
            <a:pPr algn="just">
              <a:lnSpc>
                <a:spcPts val="4200"/>
              </a:lnSpc>
            </a:pPr>
            <a:endParaRPr lang="en-US" sz="3000" spc="45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7458" y="1984038"/>
            <a:ext cx="17262967" cy="180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81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Why Interpolation Search? 🤔</a:t>
            </a:r>
          </a:p>
          <a:p>
            <a:pPr algn="l">
              <a:lnSpc>
                <a:spcPts val="6960"/>
              </a:lnSpc>
            </a:pPr>
            <a:endParaRPr lang="en-US" sz="8100">
              <a:solidFill>
                <a:srgbClr val="0D1C38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73070" y="2660428"/>
            <a:ext cx="13836976" cy="735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3599" b="1" spc="53" dirty="0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Step-by-Step Process: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1: Calculate estimated position using interpolation formula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2: Compare target with element at estimated position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3: If match found → return position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4: If target is smaller → search left subarray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5: If target is larger → search right subarray</a:t>
            </a: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Step 6: Repeat until found or search space exhausted</a:t>
            </a:r>
          </a:p>
          <a:p>
            <a:pPr algn="just">
              <a:lnSpc>
                <a:spcPts val="4800"/>
              </a:lnSpc>
            </a:pPr>
            <a:endParaRPr lang="en-US" sz="3200" spc="48" dirty="0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4800"/>
              </a:lnSpc>
            </a:pPr>
            <a:r>
              <a:rPr lang="en-US" sz="3200" spc="48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Position Calculation:  </a:t>
            </a:r>
          </a:p>
          <a:p>
            <a:pPr algn="ctr">
              <a:lnSpc>
                <a:spcPts val="4800"/>
              </a:lnSpc>
            </a:pPr>
            <a:r>
              <a:rPr lang="en-US" sz="3200" b="1" spc="48" dirty="0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pos = low + ((key - </a:t>
            </a:r>
            <a:r>
              <a:rPr lang="en-US" sz="3200" b="1" spc="48" dirty="0" err="1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arr</a:t>
            </a:r>
            <a:r>
              <a:rPr lang="en-US" sz="3200" b="1" spc="48" dirty="0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[low]) × (high - low) / (</a:t>
            </a:r>
            <a:r>
              <a:rPr lang="en-US" sz="3200" b="1" spc="48" dirty="0" err="1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arr</a:t>
            </a:r>
            <a:r>
              <a:rPr lang="en-US" sz="3200" b="1" spc="48" dirty="0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[high] - </a:t>
            </a:r>
            <a:r>
              <a:rPr lang="en-US" sz="3200" b="1" spc="48" dirty="0" err="1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arr</a:t>
            </a:r>
            <a:r>
              <a:rPr lang="en-US" sz="3200" b="1" spc="48" dirty="0">
                <a:solidFill>
                  <a:srgbClr val="9A4AA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[low]))</a:t>
            </a:r>
          </a:p>
          <a:p>
            <a:pPr algn="just">
              <a:lnSpc>
                <a:spcPts val="4480"/>
              </a:lnSpc>
            </a:pPr>
            <a:endParaRPr lang="en-US" sz="3200" b="1" spc="48" dirty="0">
              <a:solidFill>
                <a:srgbClr val="9A4AA7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just">
              <a:lnSpc>
                <a:spcPts val="4480"/>
              </a:lnSpc>
            </a:pPr>
            <a:endParaRPr lang="en-US" sz="3200" b="1" spc="48" dirty="0">
              <a:solidFill>
                <a:srgbClr val="9A4AA7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652915" y="1712363"/>
            <a:ext cx="10982169" cy="1043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91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How It Works 🛠️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823" y="2992834"/>
            <a:ext cx="15669477" cy="462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Array: [1, 3, 7, 15, 20, 21, 50, 55, 75, 80]  </a:t>
            </a:r>
          </a:p>
          <a:p>
            <a:pPr algn="l">
              <a:lnSpc>
                <a:spcPts val="4134"/>
              </a:lnSpc>
            </a:pPr>
            <a:r>
              <a:rPr lang="en-US" sz="2953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Target/ key =  50 </a:t>
            </a:r>
          </a:p>
          <a:p>
            <a:pPr algn="l">
              <a:lnSpc>
                <a:spcPts val="3434"/>
              </a:lnSpc>
            </a:pPr>
            <a:endParaRPr lang="en-US" sz="2953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l">
              <a:lnSpc>
                <a:spcPts val="5441"/>
              </a:lnSpc>
            </a:pPr>
            <a:r>
              <a:rPr lang="en-US" sz="3753" spc="69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[1] [3] [7] [15] [20] [21] [50] [55] [75] [80]  | </a:t>
            </a:r>
            <a:r>
              <a:rPr lang="en-US" sz="3753" b="1" spc="690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[Elements]</a:t>
            </a:r>
          </a:p>
          <a:p>
            <a:pPr algn="l">
              <a:lnSpc>
                <a:spcPts val="5441"/>
              </a:lnSpc>
            </a:pPr>
            <a:r>
              <a:rPr lang="en-US" sz="3753" spc="69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0   1    2     3     4     5     6     7      8     9    |  </a:t>
            </a:r>
            <a:r>
              <a:rPr lang="en-US" sz="3753" b="1" spc="690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[Index]</a:t>
            </a:r>
          </a:p>
          <a:p>
            <a:pPr algn="l">
              <a:lnSpc>
                <a:spcPts val="3434"/>
              </a:lnSpc>
            </a:pPr>
            <a:endParaRPr lang="en-US" sz="3753" b="1" spc="690">
              <a:solidFill>
                <a:srgbClr val="0D1C38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l">
              <a:lnSpc>
                <a:spcPts val="3994"/>
              </a:lnSpc>
            </a:pPr>
            <a:endParaRPr lang="en-US" sz="3753" b="1" spc="690">
              <a:solidFill>
                <a:srgbClr val="0D1C38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l">
              <a:lnSpc>
                <a:spcPts val="3434"/>
              </a:lnSpc>
            </a:pPr>
            <a:endParaRPr lang="en-US" sz="3753" b="1" spc="690">
              <a:solidFill>
                <a:srgbClr val="0D1C38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l">
              <a:lnSpc>
                <a:spcPts val="3434"/>
              </a:lnSpc>
            </a:pPr>
            <a:endParaRPr lang="en-US" sz="3753" b="1" spc="690">
              <a:solidFill>
                <a:srgbClr val="0D1C38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27160" y="1891160"/>
            <a:ext cx="14282886" cy="103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9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Example Walkthrough 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63009" y="6394609"/>
            <a:ext cx="5799018" cy="241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 b="1" spc="42" dirty="0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Iteration 2: </a:t>
            </a:r>
          </a:p>
          <a:p>
            <a:pPr algn="l">
              <a:lnSpc>
                <a:spcPts val="3847"/>
              </a:lnSpc>
            </a:pPr>
            <a:r>
              <a:rPr lang="en-US" sz="2850" spc="42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low = 6, high = 9</a:t>
            </a:r>
          </a:p>
          <a:p>
            <a:pPr algn="l">
              <a:lnSpc>
                <a:spcPts val="3847"/>
              </a:lnSpc>
            </a:pPr>
            <a:r>
              <a:rPr lang="en-US" sz="2850" spc="42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pos = 6 + ((50-50) × (9-6)) / (80-50)</a:t>
            </a:r>
          </a:p>
          <a:p>
            <a:pPr algn="l">
              <a:lnSpc>
                <a:spcPts val="3847"/>
              </a:lnSpc>
            </a:pPr>
            <a:r>
              <a:rPr lang="en-US" sz="2850" spc="42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pos = 6 + (0 × 3) / 30 = 6</a:t>
            </a:r>
          </a:p>
          <a:p>
            <a:pPr algn="l">
              <a:lnSpc>
                <a:spcPts val="3847"/>
              </a:lnSpc>
            </a:pPr>
            <a:r>
              <a:rPr lang="en-US" sz="2850" spc="42" dirty="0" err="1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arr</a:t>
            </a:r>
            <a:r>
              <a:rPr lang="en-US" sz="2850" spc="42" dirty="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[6] = 50 ✅ FOUND!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42735" y="6234589"/>
            <a:ext cx="5799018" cy="274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 b="1" spc="42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Iteration 1: </a:t>
            </a:r>
          </a:p>
          <a:p>
            <a:pPr algn="l">
              <a:lnSpc>
                <a:spcPts val="3705"/>
              </a:lnSpc>
            </a:pPr>
            <a:r>
              <a:rPr lang="en-US" sz="2850" spc="4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low = 0, high = 9</a:t>
            </a:r>
          </a:p>
          <a:p>
            <a:pPr algn="l">
              <a:lnSpc>
                <a:spcPts val="3705"/>
              </a:lnSpc>
            </a:pPr>
            <a:r>
              <a:rPr lang="en-US" sz="2850" spc="4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pos = 0 + ((50-1) × (9-0)) / (80-1)</a:t>
            </a:r>
          </a:p>
          <a:p>
            <a:pPr algn="l">
              <a:lnSpc>
                <a:spcPts val="3705"/>
              </a:lnSpc>
            </a:pPr>
            <a:r>
              <a:rPr lang="en-US" sz="2850" spc="4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pos = 0 + (49 × 9) / 79 = 5.58 ≈ 5</a:t>
            </a:r>
          </a:p>
          <a:p>
            <a:pPr algn="l">
              <a:lnSpc>
                <a:spcPts val="3705"/>
              </a:lnSpc>
            </a:pPr>
            <a:r>
              <a:rPr lang="en-US" sz="2850" spc="4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arr[5] = 21 &lt; 50, so low = 6</a:t>
            </a:r>
          </a:p>
          <a:p>
            <a:pPr algn="l">
              <a:lnSpc>
                <a:spcPts val="2850"/>
              </a:lnSpc>
              <a:spcBef>
                <a:spcPct val="0"/>
              </a:spcBef>
            </a:pPr>
            <a:endParaRPr lang="en-US" sz="2850" spc="42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909997" y="2660715"/>
            <a:ext cx="10468005" cy="6597585"/>
          </a:xfrm>
          <a:custGeom>
            <a:avLst/>
            <a:gdLst/>
            <a:ahLst/>
            <a:cxnLst/>
            <a:rect l="l" t="t" r="r" b="b"/>
            <a:pathLst>
              <a:path w="10468005" h="6597585">
                <a:moveTo>
                  <a:pt x="0" y="0"/>
                </a:moveTo>
                <a:lnTo>
                  <a:pt x="10468006" y="0"/>
                </a:lnTo>
                <a:lnTo>
                  <a:pt x="10468006" y="6597585"/>
                </a:lnTo>
                <a:lnTo>
                  <a:pt x="0" y="6597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5" t="-524" r="-3798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34733" y="1650846"/>
            <a:ext cx="14708500" cy="190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1"/>
              </a:lnSpc>
            </a:pPr>
            <a:r>
              <a:rPr lang="en-US" sz="8902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Code Implementation 💻</a:t>
            </a:r>
          </a:p>
          <a:p>
            <a:pPr algn="l">
              <a:lnSpc>
                <a:spcPts val="7121"/>
              </a:lnSpc>
            </a:pPr>
            <a:endParaRPr lang="en-US" sz="8902">
              <a:solidFill>
                <a:srgbClr val="0D1C38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95255" y="2710049"/>
            <a:ext cx="14680892" cy="615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Performance Benefits: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Faster than Binary Search: O(log log n) for uniform data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Fewer Comparisons: Makes intelligent guesses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Efficient for Large Datasets: Significant improvement with big arrays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Smart Features: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Value-Based Search: Uses actual data values for estimation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Adaptive Algorithm: Adjusts based on data distribution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Intuitive Approach: Mimics human search behavior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Comparison: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Binary Search: 1000 elements → ~10 comparisons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Interpolation Search: 1000 elements → ~3-4 comparisons</a:t>
            </a: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53946" y="1600990"/>
            <a:ext cx="9163508" cy="187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6"/>
              </a:lnSpc>
            </a:pPr>
            <a:r>
              <a:rPr lang="en-US" sz="8133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Advantages </a:t>
            </a:r>
          </a:p>
          <a:p>
            <a:pPr algn="l">
              <a:lnSpc>
                <a:spcPts val="7306"/>
              </a:lnSpc>
            </a:pPr>
            <a:endParaRPr lang="en-US" sz="8133">
              <a:solidFill>
                <a:srgbClr val="0D1C38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43562" y="2858928"/>
            <a:ext cx="14268900" cy="667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Limitations: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Uniform Distribution Required: Poor performance on skewed data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Additional Computation: Formula calculation overhead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Integer Overflow Risk: Large values can cause overflow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Specific Conditions: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Sorted Array Only: Requires pre-sorted data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Numerical Data: Works best with numbers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Memory Access Pattern: May not be cache-friendly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Worst Case Example: </a:t>
            </a:r>
            <a:r>
              <a:rPr lang="en-US" sz="2900" spc="43">
                <a:solidFill>
                  <a:srgbClr val="78A6CB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Array: [1, 2, 3, 4, 100000] - searching for 100000</a:t>
            </a:r>
          </a:p>
          <a:p>
            <a:pPr algn="just">
              <a:lnSpc>
                <a:spcPts val="4060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Interpolation may perform worse than binary search due to poor  distribution!</a:t>
            </a: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546" y="1751208"/>
            <a:ext cx="10207882" cy="92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6"/>
              </a:lnSpc>
            </a:pPr>
            <a:r>
              <a:rPr lang="en-US" sz="8133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Disadvantages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19408" y="2496202"/>
            <a:ext cx="14268900" cy="783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just">
              <a:lnSpc>
                <a:spcPts val="4524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Database Systems: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Index searching in sorted database tables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Timestamp-based log searches</a:t>
            </a:r>
          </a:p>
          <a:p>
            <a:pPr marL="626112" lvl="1" indent="-313056" algn="just">
              <a:lnSpc>
                <a:spcPts val="4524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Financial Systems: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Stock price lookups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Time series data analysis</a:t>
            </a:r>
          </a:p>
          <a:p>
            <a:pPr marL="626112" lvl="1" indent="-313056" algn="just">
              <a:lnSpc>
                <a:spcPts val="4524"/>
              </a:lnSpc>
              <a:buFont typeface="Arial"/>
              <a:buChar char="•"/>
            </a:pPr>
            <a:r>
              <a:rPr lang="en-US" sz="2900" b="1" spc="43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Classic Example: Phone Directory 📞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When searching for "Smith" in a phone book: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 • You don't start from the middle (around "M")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 • You estimate "Smith" is around 75% through the book</a:t>
            </a:r>
          </a:p>
          <a:p>
            <a:pPr algn="just">
              <a:lnSpc>
                <a:spcPts val="4524"/>
              </a:lnSpc>
            </a:pPr>
            <a:r>
              <a:rPr lang="en-US" sz="2900" spc="4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    • This is exactly how interpolation search works!</a:t>
            </a: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4060"/>
              </a:lnSpc>
            </a:pPr>
            <a:endParaRPr lang="en-US" sz="2900" spc="43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5720" y="1673451"/>
            <a:ext cx="14984326" cy="88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7833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Real-World Applications 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81984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92551" y="2335555"/>
            <a:ext cx="7242834" cy="7358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0"/>
              </a:lnSpc>
            </a:pPr>
            <a:r>
              <a:rPr lang="en-US" sz="2948" b="1" spc="44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Use When:</a:t>
            </a:r>
          </a:p>
          <a:p>
            <a:pPr algn="just">
              <a:lnSpc>
                <a:spcPts val="4600"/>
              </a:lnSpc>
            </a:pPr>
            <a:r>
              <a:rPr lang="en-US" sz="2948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Data is uniformly distributed</a:t>
            </a:r>
          </a:p>
          <a:p>
            <a:pPr algn="just">
              <a:lnSpc>
                <a:spcPts val="4600"/>
              </a:lnSpc>
            </a:pPr>
            <a:r>
              <a:rPr lang="en-US" sz="2948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Large sorted arrays(&gt;1000 elements)</a:t>
            </a:r>
          </a:p>
          <a:p>
            <a:pPr algn="just">
              <a:lnSpc>
                <a:spcPts val="4600"/>
              </a:lnSpc>
            </a:pPr>
            <a:r>
              <a:rPr lang="en-US" sz="2948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Numerical data with predictable patterns</a:t>
            </a:r>
          </a:p>
          <a:p>
            <a:pPr algn="just">
              <a:lnSpc>
                <a:spcPts val="4600"/>
              </a:lnSpc>
            </a:pPr>
            <a:r>
              <a:rPr lang="en-US" sz="2948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Performance is critical</a:t>
            </a:r>
          </a:p>
          <a:p>
            <a:pPr algn="just">
              <a:lnSpc>
                <a:spcPts val="4600"/>
              </a:lnSpc>
            </a:pPr>
            <a:r>
              <a:rPr lang="en-US" sz="2948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Search operations are frequent</a:t>
            </a:r>
          </a:p>
          <a:p>
            <a:pPr algn="just">
              <a:lnSpc>
                <a:spcPts val="3976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976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976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976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976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568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568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just">
              <a:lnSpc>
                <a:spcPts val="3568"/>
              </a:lnSpc>
            </a:pPr>
            <a:endParaRPr lang="en-US" sz="2948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23" y="1635351"/>
            <a:ext cx="17254777" cy="80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sz="7033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When to Use Interpolation Search?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5443" y="5897465"/>
            <a:ext cx="9987790" cy="355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2949" b="1" spc="44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Decision Formula:</a:t>
            </a:r>
          </a:p>
          <a:p>
            <a:pPr algn="l">
              <a:lnSpc>
                <a:spcPts val="4100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If (data_size &gt; 1000 &amp;&amp; uniform_distribution &amp;&amp; numerical_data)</a:t>
            </a:r>
          </a:p>
          <a:p>
            <a:pPr algn="l">
              <a:lnSpc>
                <a:spcPts val="4100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→ Use Interpolation Search</a:t>
            </a:r>
          </a:p>
          <a:p>
            <a:pPr algn="l">
              <a:lnSpc>
                <a:spcPts val="4100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Else </a:t>
            </a:r>
          </a:p>
          <a:p>
            <a:pPr algn="l">
              <a:lnSpc>
                <a:spcPts val="4100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→ Use Binary Search</a:t>
            </a:r>
          </a:p>
          <a:p>
            <a:pPr algn="l">
              <a:lnSpc>
                <a:spcPts val="3866"/>
              </a:lnSpc>
            </a:pPr>
            <a:endParaRPr lang="en-US" sz="2949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07901" y="2402230"/>
            <a:ext cx="6695654" cy="355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2949" b="1" spc="44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Avoid When:</a:t>
            </a:r>
          </a:p>
          <a:p>
            <a:pPr algn="l">
              <a:lnSpc>
                <a:spcPts val="3982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Data is highly skewed</a:t>
            </a:r>
          </a:p>
          <a:p>
            <a:pPr algn="l">
              <a:lnSpc>
                <a:spcPts val="3982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Small arrays(&lt;100 elements)</a:t>
            </a:r>
          </a:p>
          <a:p>
            <a:pPr algn="l">
              <a:lnSpc>
                <a:spcPts val="3982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String or complex data types</a:t>
            </a:r>
          </a:p>
          <a:p>
            <a:pPr algn="l">
              <a:lnSpc>
                <a:spcPts val="3982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Memory is limited</a:t>
            </a:r>
          </a:p>
          <a:p>
            <a:pPr algn="l">
              <a:lnSpc>
                <a:spcPts val="3982"/>
              </a:lnSpc>
            </a:pPr>
            <a:r>
              <a:rPr lang="en-US" sz="2949" spc="44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Data changes frequently</a:t>
            </a:r>
          </a:p>
          <a:p>
            <a:pPr algn="l">
              <a:lnSpc>
                <a:spcPts val="3677"/>
              </a:lnSpc>
              <a:spcBef>
                <a:spcPct val="0"/>
              </a:spcBef>
            </a:pPr>
            <a:endParaRPr lang="en-US" sz="2949" spc="44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7513" y="4104816"/>
            <a:ext cx="14992974" cy="2333142"/>
          </a:xfrm>
          <a:custGeom>
            <a:avLst/>
            <a:gdLst/>
            <a:ahLst/>
            <a:cxnLst/>
            <a:rect l="l" t="t" r="r" b="b"/>
            <a:pathLst>
              <a:path w="14992974" h="2333142">
                <a:moveTo>
                  <a:pt x="0" y="0"/>
                </a:moveTo>
                <a:lnTo>
                  <a:pt x="14992974" y="0"/>
                </a:lnTo>
                <a:lnTo>
                  <a:pt x="14992974" y="2333142"/>
                </a:lnTo>
                <a:lnTo>
                  <a:pt x="0" y="23331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14721" y="2498347"/>
            <a:ext cx="17258557" cy="79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7001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Algorithm Comparison 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794369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52029" y="3135005"/>
            <a:ext cx="13872016" cy="463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Interpolation Search is a </a:t>
            </a:r>
            <a:r>
              <a:rPr lang="en-US" sz="3200" b="1" spc="48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smart upgrade</a:t>
            </a: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to Binary Search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Best suited for </a:t>
            </a:r>
            <a:r>
              <a:rPr lang="en-US" sz="3200" b="1" spc="48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large, uniformly distributed</a:t>
            </a: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datasets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Can achieve </a:t>
            </a:r>
            <a:r>
              <a:rPr lang="en-US" sz="3200" b="1" spc="48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O(log log n)</a:t>
            </a:r>
            <a:r>
              <a:rPr lang="en-US" sz="3200" b="1" spc="48">
                <a:solidFill>
                  <a:srgbClr val="004AAD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</a:t>
            </a: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time complexity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Choose algorithm based on </a:t>
            </a:r>
            <a:r>
              <a:rPr lang="en-US" sz="3200" b="1" spc="48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data characteristics</a:t>
            </a:r>
          </a:p>
          <a:p>
            <a:pPr algn="l">
              <a:lnSpc>
                <a:spcPts val="4480"/>
              </a:lnSpc>
            </a:pPr>
            <a:endParaRPr lang="en-US" sz="3200" b="1" spc="48">
              <a:solidFill>
                <a:srgbClr val="78A6CB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ctr">
              <a:lnSpc>
                <a:spcPts val="4899"/>
              </a:lnSpc>
            </a:pPr>
            <a:r>
              <a:rPr lang="en-US" sz="3499" b="1" spc="52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"The right algorithm for the right data leads to the right performance!"</a:t>
            </a:r>
          </a:p>
          <a:p>
            <a:pPr algn="ctr">
              <a:lnSpc>
                <a:spcPts val="4899"/>
              </a:lnSpc>
            </a:pPr>
            <a:endParaRPr lang="en-US" sz="3499" b="1" spc="52">
              <a:solidFill>
                <a:srgbClr val="0D1C38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65455" y="1729190"/>
            <a:ext cx="8957091" cy="99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8625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Conclusion 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28129" y="2633996"/>
            <a:ext cx="14319757" cy="596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10"/>
              </a:lnSpc>
            </a:pPr>
            <a:r>
              <a:rPr lang="en-US" sz="2600" b="1" spc="39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GeeksforGeeks </a:t>
            </a: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– Interpolation Search</a:t>
            </a:r>
          </a:p>
          <a:p>
            <a:pPr algn="just">
              <a:lnSpc>
                <a:spcPts val="4810"/>
              </a:lnSpc>
            </a:pP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 detailed explanation of Interpolation Search with examples and code implementation in multiple languages</a:t>
            </a:r>
          </a:p>
          <a:p>
            <a:pPr algn="just">
              <a:lnSpc>
                <a:spcPts val="4810"/>
              </a:lnSpc>
            </a:pPr>
            <a:r>
              <a:rPr lang="en-US" sz="2600" b="1" spc="39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Wikipedia </a:t>
            </a: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– Interpolation Search</a:t>
            </a:r>
          </a:p>
          <a:p>
            <a:pPr algn="just">
              <a:lnSpc>
                <a:spcPts val="4810"/>
              </a:lnSpc>
            </a:pP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General overview of Interpolation Search including working principle, complexity, and theoretical background.</a:t>
            </a:r>
          </a:p>
          <a:p>
            <a:pPr algn="just">
              <a:lnSpc>
                <a:spcPts val="4810"/>
              </a:lnSpc>
            </a:pPr>
            <a:r>
              <a:rPr lang="en-US" sz="2600" b="1" spc="39">
                <a:solidFill>
                  <a:srgbClr val="78A6CB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YouTube </a:t>
            </a: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– Interpolation Search Tutorial</a:t>
            </a:r>
          </a:p>
          <a:p>
            <a:pPr algn="just">
              <a:lnSpc>
                <a:spcPts val="4810"/>
              </a:lnSpc>
            </a:pPr>
            <a:r>
              <a:rPr lang="en-US" sz="2600" spc="3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Brief Description: A video tutorial explaining Interpolation Search step-by-step with visuals and practical examples.</a:t>
            </a:r>
          </a:p>
          <a:p>
            <a:pPr algn="just">
              <a:lnSpc>
                <a:spcPts val="3640"/>
              </a:lnSpc>
            </a:pPr>
            <a:endParaRPr lang="en-US" sz="2600" spc="39">
              <a:solidFill>
                <a:srgbClr val="0D1C3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99960" y="1749832"/>
            <a:ext cx="7888080" cy="92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Reference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5271" y="4565874"/>
            <a:ext cx="5902101" cy="7974702"/>
            <a:chOff x="0" y="0"/>
            <a:chExt cx="7869467" cy="10632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2672315" y="-776716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6884370" y="7044598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42896" y="2356980"/>
            <a:ext cx="9733360" cy="468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28"/>
              </a:lnSpc>
            </a:pPr>
            <a:r>
              <a:rPr lang="en-US" sz="16219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THANK YOU..!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26938" y="8247923"/>
            <a:ext cx="432673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78A6CB"/>
                </a:solidFill>
                <a:latin typeface="Roca One"/>
                <a:ea typeface="Roca One"/>
                <a:cs typeface="Roca One"/>
                <a:sym typeface="Roca One"/>
              </a:rPr>
              <a:t>Any Question?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966</Words>
  <Application>Microsoft Office PowerPoint</Application>
  <PresentationFormat>Custom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Assistant</vt:lpstr>
      <vt:lpstr>Roca One</vt:lpstr>
      <vt:lpstr>Assistant Bold</vt:lpstr>
      <vt:lpstr>Calibri</vt:lpstr>
      <vt:lpstr>Roca One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OFFICE</dc:creator>
  <cp:lastModifiedBy>Rutuja Gholap</cp:lastModifiedBy>
  <cp:revision>3</cp:revision>
  <cp:lastPrinted>2025-09-22T10:12:37Z</cp:lastPrinted>
  <dcterms:created xsi:type="dcterms:W3CDTF">2006-08-16T00:00:00Z</dcterms:created>
  <dcterms:modified xsi:type="dcterms:W3CDTF">2025-09-22T11:19:03Z</dcterms:modified>
  <dc:identifier>DAGzbuf3P0Y</dc:identifier>
</cp:coreProperties>
</file>